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72" r:id="rId8"/>
    <p:sldId id="271" r:id="rId9"/>
    <p:sldId id="273" r:id="rId10"/>
    <p:sldId id="274" r:id="rId11"/>
    <p:sldId id="275" r:id="rId12"/>
    <p:sldId id="276" r:id="rId13"/>
    <p:sldId id="280" r:id="rId14"/>
    <p:sldId id="277" r:id="rId15"/>
    <p:sldId id="260" r:id="rId16"/>
    <p:sldId id="281" r:id="rId17"/>
    <p:sldId id="262" r:id="rId18"/>
    <p:sldId id="263" r:id="rId19"/>
    <p:sldId id="265" r:id="rId20"/>
    <p:sldId id="26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5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4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6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9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9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8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4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666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5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1824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63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6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085" y="2089902"/>
            <a:ext cx="5826719" cy="1646302"/>
          </a:xfrm>
        </p:spPr>
        <p:txBody>
          <a:bodyPr/>
          <a:lstStyle/>
          <a:p>
            <a:pPr algn="ctr"/>
            <a:r>
              <a:rPr sz="3600" dirty="0"/>
              <a:t>AMBA APB Protocol (Advanced Peripheral Bus)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</a:t>
            </a:r>
            <a:r>
              <a:rPr lang="en-IN" dirty="0" err="1"/>
              <a:t>AadhithyaSB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95090"/>
            <a:ext cx="6347714" cy="3880773"/>
          </a:xfrm>
        </p:spPr>
        <p:txBody>
          <a:bodyPr>
            <a:normAutofit fontScale="92500"/>
          </a:bodyPr>
          <a:lstStyle/>
          <a:p>
            <a:r>
              <a:rPr lang="en-IN" dirty="0"/>
              <a:t>What is APB?</a:t>
            </a:r>
          </a:p>
          <a:p>
            <a:r>
              <a:rPr lang="en-IN" dirty="0"/>
              <a:t>Signal Description</a:t>
            </a:r>
          </a:p>
          <a:p>
            <a:r>
              <a:rPr lang="en-IN" dirty="0"/>
              <a:t>Master-Slave Configuration</a:t>
            </a:r>
          </a:p>
          <a:p>
            <a:r>
              <a:rPr lang="en-IN" dirty="0"/>
              <a:t>Transfer examples (read/write/ Write Followed by Read)</a:t>
            </a:r>
          </a:p>
          <a:p>
            <a:r>
              <a:rPr lang="en-IN" dirty="0"/>
              <a:t>Error Response</a:t>
            </a:r>
          </a:p>
          <a:p>
            <a:r>
              <a:rPr lang="en-IN" dirty="0"/>
              <a:t>Operating states &amp; timing</a:t>
            </a:r>
          </a:p>
          <a:p>
            <a:r>
              <a:rPr lang="en-IN" dirty="0"/>
              <a:t>APB versions &amp; features</a:t>
            </a:r>
          </a:p>
          <a:p>
            <a:r>
              <a:rPr lang="en-IN" dirty="0"/>
              <a:t>APB vs AHB/AXI</a:t>
            </a:r>
          </a:p>
          <a:p>
            <a:r>
              <a:rPr lang="en-IN" dirty="0"/>
              <a:t>Advantages &amp; Disadvantages</a:t>
            </a:r>
          </a:p>
          <a:p>
            <a:r>
              <a:rPr lang="en-IN" dirty="0"/>
              <a:t>Reference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APB?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78809"/>
            <a:ext cx="6347713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AMBA (Advanced Microcontroller Bus Architecture) was introduced by ARM in 1996. The first AMBA buses were the Advanced System Bus (ASB) and the Advanced Peripheral Bus (APB).</a:t>
            </a:r>
          </a:p>
          <a:p>
            <a:r>
              <a:rPr lang="en-US" dirty="0"/>
              <a:t>APB is a member of the AMBA protocol family.</a:t>
            </a:r>
          </a:p>
          <a:p>
            <a:r>
              <a:rPr lang="en-US" dirty="0"/>
              <a:t>It offers a low-cost interface designed for minimal power consumption and reduced interface complexity.</a:t>
            </a:r>
          </a:p>
          <a:p>
            <a:r>
              <a:rPr lang="en-US" dirty="0"/>
              <a:t>APB is suitable for connecting low-bandwidth peripherals that do not require the high performance of a pipelined bus interface.</a:t>
            </a:r>
          </a:p>
          <a:p>
            <a:r>
              <a:rPr lang="en-US" dirty="0"/>
              <a:t>The protocol is unpipelined.</a:t>
            </a:r>
          </a:p>
          <a:p>
            <a:r>
              <a:rPr lang="en-US" dirty="0"/>
              <a:t>All signal transitions are synchronized to the rising edge of the clock, simplifying the integration of APB peripherals into any design flow.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Signal 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9481"/>
            <a:ext cx="6347714" cy="4608919"/>
          </a:xfrm>
        </p:spPr>
        <p:txBody>
          <a:bodyPr>
            <a:normAutofit fontScale="92500" lnSpcReduction="20000"/>
          </a:bodyPr>
          <a:lstStyle/>
          <a:p>
            <a:r>
              <a:rPr lang="en-US" sz="2100" b="1" dirty="0"/>
              <a:t>Clock, Reset, and Address Signals:</a:t>
            </a:r>
          </a:p>
          <a:p>
            <a:pPr marL="0" indent="0">
              <a:buNone/>
            </a:pPr>
            <a:r>
              <a:rPr lang="en-US" b="1" dirty="0"/>
              <a:t>         PCLK</a:t>
            </a:r>
            <a:r>
              <a:rPr lang="en-US" dirty="0"/>
              <a:t>: The rising edge of PCLK synchronizes all transfers on the APB.</a:t>
            </a:r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b="1" dirty="0" err="1"/>
              <a:t>PRESETn</a:t>
            </a:r>
            <a:r>
              <a:rPr lang="en-US" dirty="0"/>
              <a:t>: Active-low APB reset signal, typically connected directly to the system bus reset.</a:t>
            </a:r>
          </a:p>
          <a:p>
            <a:pPr marL="0" indent="0">
              <a:buNone/>
            </a:pPr>
            <a:r>
              <a:rPr lang="en-US" b="1" dirty="0"/>
              <a:t>         PADDR</a:t>
            </a:r>
            <a:r>
              <a:rPr lang="en-US" dirty="0"/>
              <a:t>: APB address bus, driven by the peripheral bus bridge, with a width of up to 32 bits.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1900" b="1" dirty="0"/>
              <a:t>Control Signals:</a:t>
            </a:r>
            <a:endParaRPr lang="en-US" sz="1900" dirty="0"/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b="1" dirty="0" err="1"/>
              <a:t>PSELx</a:t>
            </a:r>
            <a:r>
              <a:rPr lang="en-US" dirty="0"/>
              <a:t>: Generated by the APB bridge for each slave, indicating the device is selected and a data        transfer is required.</a:t>
            </a:r>
          </a:p>
          <a:p>
            <a:pPr marL="0" indent="0">
              <a:buNone/>
            </a:pPr>
            <a:r>
              <a:rPr lang="en-US" b="1" dirty="0"/>
              <a:t>         PENABLE</a:t>
            </a:r>
            <a:r>
              <a:rPr lang="en-US" dirty="0"/>
              <a:t>: Signifies the second and subsequent cycles of an APB transfer.</a:t>
            </a:r>
          </a:p>
          <a:p>
            <a:pPr marL="0" indent="0">
              <a:buNone/>
            </a:pPr>
            <a:r>
              <a:rPr lang="en-US" b="1" dirty="0"/>
              <a:t>         PWRITE</a:t>
            </a:r>
            <a:r>
              <a:rPr lang="en-US" dirty="0"/>
              <a:t>: When HIGH, indicates a write access; when LOW, indicates a read access.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7643-2015-8B84-4FFC-60DF2A7F7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09600"/>
            <a:ext cx="6347714" cy="5431763"/>
          </a:xfrm>
        </p:spPr>
        <p:txBody>
          <a:bodyPr/>
          <a:lstStyle/>
          <a:p>
            <a:r>
              <a:rPr lang="en-US" b="1" dirty="0"/>
              <a:t>Data and Response Signals: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  PWDATA</a:t>
            </a:r>
            <a:r>
              <a:rPr lang="en-US" dirty="0"/>
              <a:t>: Driven by the bridge during write cycles (PWRITE HIGH), with a width of up to 32 bits.</a:t>
            </a:r>
          </a:p>
          <a:p>
            <a:pPr marL="0" indent="0">
              <a:buNone/>
            </a:pPr>
            <a:r>
              <a:rPr lang="en-US" b="1" dirty="0"/>
              <a:t>         PRDATA</a:t>
            </a:r>
            <a:r>
              <a:rPr lang="en-US" dirty="0"/>
              <a:t>: Driven by the selected slave during read cycles (PWRITE LOW), with a width of up to 32 bits.</a:t>
            </a:r>
          </a:p>
          <a:p>
            <a:pPr marL="0" indent="0">
              <a:buNone/>
            </a:pPr>
            <a:r>
              <a:rPr lang="en-US" b="1" dirty="0"/>
              <a:t>         PREADY</a:t>
            </a:r>
            <a:r>
              <a:rPr lang="en-US" dirty="0"/>
              <a:t>: Used by the slave to extend an APB transfer.</a:t>
            </a:r>
          </a:p>
          <a:p>
            <a:pPr marL="0" indent="0">
              <a:buNone/>
            </a:pPr>
            <a:r>
              <a:rPr lang="en-US" b="1" dirty="0"/>
              <a:t>         PSLVERR</a:t>
            </a:r>
            <a:r>
              <a:rPr lang="en-US" dirty="0"/>
              <a:t>: Indicates a transfer failure. Note: APB peripherals are not required to support this pin. If unused, the bridge input should be tied 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18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BD12-236D-9835-BC36-218EBFBD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75071"/>
          </a:xfrm>
        </p:spPr>
        <p:txBody>
          <a:bodyPr/>
          <a:lstStyle/>
          <a:p>
            <a:r>
              <a:rPr lang="en-IN" dirty="0"/>
              <a:t>Master-Slave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FCE4F-A614-AF99-CA65-8D18A3055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943" y="1702082"/>
            <a:ext cx="6685936" cy="427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95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4E1D-A62C-00C7-0936-6E736E91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Transfers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E352A1-D459-9CEE-220B-BFC809D7A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642" y="1530266"/>
            <a:ext cx="6973626" cy="239964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0E52BF-1890-298E-428C-451DB826DE0A}"/>
              </a:ext>
            </a:extLst>
          </p:cNvPr>
          <p:cNvSpPr txBox="1">
            <a:spLocks/>
          </p:cNvSpPr>
          <p:nvPr/>
        </p:nvSpPr>
        <p:spPr>
          <a:xfrm>
            <a:off x="373625" y="4493902"/>
            <a:ext cx="6347714" cy="1754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dirty="0"/>
              <a:t>SETUP: </a:t>
            </a:r>
            <a:r>
              <a:rPr lang="en-IN" dirty="0" err="1"/>
              <a:t>PSELx</a:t>
            </a:r>
            <a:r>
              <a:rPr lang="en-IN" dirty="0"/>
              <a:t>=1, PWRITE=1, PADDR, PWDATA stable (PENABLE=0)</a:t>
            </a:r>
          </a:p>
          <a:p>
            <a:pPr lvl="1"/>
            <a:r>
              <a:rPr lang="en-IN" dirty="0"/>
              <a:t>ACCESS: PENABLE=1; slave samples PWDATA; PREADY=1; complete on this cycle</a:t>
            </a:r>
          </a:p>
        </p:txBody>
      </p:sp>
    </p:spTree>
    <p:extLst>
      <p:ext uri="{BB962C8B-B14F-4D97-AF65-F5344CB8AC3E}">
        <p14:creationId xmlns:p14="http://schemas.microsoft.com/office/powerpoint/2010/main" val="2385718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822C-F715-034B-D98D-D7D04085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Transfers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80BB8F-F3E4-380A-202E-4261D2ECE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248" y="1723922"/>
            <a:ext cx="7128388" cy="358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9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9824-47F1-F433-0386-28BEE55C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Transfers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8FCD9185-3BAD-51CE-BDCA-743413E73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19" y="1519271"/>
            <a:ext cx="6068272" cy="207674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06FD228-9041-4C39-DBA5-616149CC2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77" y="4018887"/>
            <a:ext cx="6347714" cy="163466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lvl="1"/>
            <a:r>
              <a:rPr lang="en-IN" dirty="0"/>
              <a:t>1) SETUP: </a:t>
            </a:r>
            <a:r>
              <a:rPr lang="en-IN" dirty="0" err="1"/>
              <a:t>PSELx</a:t>
            </a:r>
            <a:r>
              <a:rPr lang="en-IN" dirty="0"/>
              <a:t>=1, PWRITE=0, PADDR stable (PENABLE=0)</a:t>
            </a:r>
          </a:p>
          <a:p>
            <a:pPr lvl="1"/>
            <a:r>
              <a:rPr lang="en-IN" dirty="0"/>
              <a:t>2) ACCESS: PENABLE=1; slave drives PRDATA; PREADY=1; master samples PRDATA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61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4157-42CE-FBE4-ACF8-7E9E896E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764F-4F0B-7984-A8E2-A0C2FD59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Transfers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D4533-BB92-C3E8-B45D-AFDEF88F0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538064"/>
            <a:ext cx="6693349" cy="45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4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D80A-40A2-AFF4-F5D4-192D3B2A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8E2F-619C-5B78-0CB8-F27F9ACB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followed by read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F2EE6-7450-8A59-46FD-02A21D643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601385"/>
            <a:ext cx="6709911" cy="44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80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20AB-1C22-26A8-F5F4-FCFCAE16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2A4F-1150-486B-C213-2845C6F2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response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31AB0B-41E5-1BBB-CEA6-81E7B2A28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04336"/>
            <a:ext cx="6347714" cy="45370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APB Transfer Error Handling (PSLVERR)</a:t>
            </a:r>
            <a:endParaRPr lang="en-US" dirty="0"/>
          </a:p>
          <a:p>
            <a:r>
              <a:rPr lang="en-US" b="1" dirty="0"/>
              <a:t>PSLVERR</a:t>
            </a:r>
            <a:r>
              <a:rPr lang="en-US" dirty="0"/>
              <a:t> indicates an error condition on both read and write APB transfers.</a:t>
            </a:r>
          </a:p>
          <a:p>
            <a:r>
              <a:rPr lang="en-US" dirty="0"/>
              <a:t>The error signal is only valid during the </a:t>
            </a:r>
            <a:r>
              <a:rPr lang="en-US" b="1" dirty="0"/>
              <a:t>last cycle</a:t>
            </a:r>
            <a:r>
              <a:rPr lang="en-US" dirty="0"/>
              <a:t> of a transfer, when </a:t>
            </a:r>
            <a:r>
              <a:rPr lang="en-US" b="1" dirty="0"/>
              <a:t>PSEL</a:t>
            </a:r>
            <a:r>
              <a:rPr lang="en-US" dirty="0"/>
              <a:t>, </a:t>
            </a:r>
            <a:r>
              <a:rPr lang="en-US" b="1" dirty="0"/>
              <a:t>PENABLE</a:t>
            </a:r>
            <a:r>
              <a:rPr lang="en-US" dirty="0"/>
              <a:t>, and </a:t>
            </a:r>
            <a:r>
              <a:rPr lang="en-US" b="1" dirty="0"/>
              <a:t>PREADY</a:t>
            </a:r>
            <a:r>
              <a:rPr lang="en-US" dirty="0"/>
              <a:t> are all HIGH.</a:t>
            </a:r>
          </a:p>
          <a:p>
            <a:r>
              <a:rPr lang="en-US" dirty="0"/>
              <a:t>It is recommended (but not mandatory) to drive </a:t>
            </a:r>
            <a:r>
              <a:rPr lang="en-US" b="1" dirty="0"/>
              <a:t>PSLVERR LOW</a:t>
            </a:r>
            <a:r>
              <a:rPr lang="en-US" dirty="0"/>
              <a:t> when not being sampled (i.e., when any of PSEL, PENABLE, or PREADY are LOW).</a:t>
            </a:r>
          </a:p>
          <a:p>
            <a:pPr marL="0" indent="0">
              <a:buNone/>
            </a:pPr>
            <a:r>
              <a:rPr lang="en-US" b="1" dirty="0"/>
              <a:t>Error Implications:</a:t>
            </a:r>
            <a:endParaRPr lang="en-US" dirty="0"/>
          </a:p>
          <a:p>
            <a:r>
              <a:rPr lang="en-US" dirty="0"/>
              <a:t>Transactions with errors </a:t>
            </a:r>
            <a:r>
              <a:rPr lang="en-US" b="1" dirty="0"/>
              <a:t>may or may not</a:t>
            </a:r>
            <a:r>
              <a:rPr lang="en-US" dirty="0"/>
              <a:t> change the peripheral’s state (peripheral-specific).</a:t>
            </a:r>
          </a:p>
          <a:p>
            <a:r>
              <a:rPr lang="en-US" dirty="0"/>
              <a:t>For </a:t>
            </a:r>
            <a:r>
              <a:rPr lang="en-US" b="1" dirty="0"/>
              <a:t>write transactions</a:t>
            </a:r>
            <a:r>
              <a:rPr lang="en-US" dirty="0"/>
              <a:t>, an error does </a:t>
            </a:r>
            <a:r>
              <a:rPr lang="en-US" b="1" dirty="0"/>
              <a:t>not guarantee</a:t>
            </a:r>
            <a:r>
              <a:rPr lang="en-US" dirty="0"/>
              <a:t> that the peripheral register was left unchanged.</a:t>
            </a:r>
          </a:p>
          <a:p>
            <a:r>
              <a:rPr lang="en-US" dirty="0"/>
              <a:t>For </a:t>
            </a:r>
            <a:r>
              <a:rPr lang="en-US" b="1" dirty="0"/>
              <a:t>read transactions</a:t>
            </a:r>
            <a:r>
              <a:rPr lang="en-US" dirty="0"/>
              <a:t>, an error may return </a:t>
            </a:r>
            <a:r>
              <a:rPr lang="en-US" b="1" dirty="0"/>
              <a:t>invalid data</a:t>
            </a:r>
            <a:r>
              <a:rPr lang="en-US" dirty="0"/>
              <a:t> (no requirement to drive all 0s).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41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E17C-0D2B-D732-FB07-B167BEFF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F3C1-1F64-1BB4-3449-6ADCD797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Failing Write Transfer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59CEA5-A380-AA2C-B1E8-7B8908C67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959" y="1499696"/>
            <a:ext cx="6489291" cy="50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45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B4D8-B174-3B19-50BD-AB3F8BF4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Failing Read Transfer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31033E-AAEB-4D69-8A32-D18A09779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12" y="1219199"/>
            <a:ext cx="6597445" cy="52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59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States &amp; Transfer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63" y="2160590"/>
            <a:ext cx="3480619" cy="3880773"/>
          </a:xfrm>
        </p:spPr>
        <p:txBody>
          <a:bodyPr>
            <a:normAutofit fontScale="92500"/>
          </a:bodyPr>
          <a:lstStyle/>
          <a:p>
            <a:r>
              <a:rPr dirty="0"/>
              <a:t>APB transfer has three main states:</a:t>
            </a:r>
          </a:p>
          <a:p>
            <a:pPr lvl="1"/>
            <a:r>
              <a:rPr dirty="0"/>
              <a:t>• IDLE : default state, no transfer</a:t>
            </a:r>
          </a:p>
          <a:p>
            <a:pPr lvl="1"/>
            <a:r>
              <a:rPr dirty="0"/>
              <a:t>• SETUP : master asserts </a:t>
            </a:r>
            <a:r>
              <a:rPr dirty="0" err="1"/>
              <a:t>PSELx</a:t>
            </a:r>
            <a:r>
              <a:rPr dirty="0"/>
              <a:t> and provides address/control (1 cycle)</a:t>
            </a:r>
          </a:p>
          <a:p>
            <a:pPr lvl="1"/>
            <a:r>
              <a:rPr dirty="0"/>
              <a:t>• ACCESS : PENABLE asserted; data transferred; slave drives PREADY/PSLVERR</a:t>
            </a:r>
          </a:p>
          <a:p>
            <a:pPr marL="457200" lvl="1" indent="0">
              <a:buNone/>
            </a:pPr>
            <a:r>
              <a:rPr dirty="0"/>
              <a:t>Notes: PREADY low extends ACCESS (wait states); signals must remain stable while PREADY is 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AB2FA3-B31F-A4CF-A05C-D50717E7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820256"/>
            <a:ext cx="3480619" cy="4221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3B0D-4585-D9D2-AF87-A8C580D9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221226"/>
            <a:ext cx="6347713" cy="776748"/>
          </a:xfrm>
        </p:spPr>
        <p:txBody>
          <a:bodyPr/>
          <a:lstStyle/>
          <a:p>
            <a:r>
              <a:rPr lang="en-IN" dirty="0"/>
              <a:t>APB Verification Plan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E6E91D-4097-1AB8-C640-CC537225C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617"/>
          <a:stretch>
            <a:fillRect/>
          </a:stretch>
        </p:blipFill>
        <p:spPr>
          <a:xfrm>
            <a:off x="137651" y="1091380"/>
            <a:ext cx="7506911" cy="5279923"/>
          </a:xfrm>
        </p:spPr>
      </p:pic>
    </p:spTree>
    <p:extLst>
      <p:ext uri="{BB962C8B-B14F-4D97-AF65-F5344CB8AC3E}">
        <p14:creationId xmlns:p14="http://schemas.microsoft.com/office/powerpoint/2010/main" val="194158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APB Versions &amp; Notable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APB2 / APB3 / APB4 / APB5 (AMBA evolution)</a:t>
            </a:r>
          </a:p>
          <a:p>
            <a:pPr marL="457200" lvl="1" indent="0">
              <a:buNone/>
            </a:pPr>
            <a:r>
              <a:rPr dirty="0"/>
              <a:t>• APB3/APB4 added features: protection (PPROT), write strobes (PSTRB), wake-up, parity, user signaling (varies by version)</a:t>
            </a:r>
          </a:p>
          <a:p>
            <a:pPr marL="457200" lvl="1" indent="0">
              <a:buNone/>
            </a:pPr>
            <a:r>
              <a:rPr dirty="0"/>
              <a:t>• APB4 is backward compatible with APB3; APB keeps interface simple for peripherals.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APB vs AHB / AXI (When to 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APB: low-bandwidth, low-power peripherals (register access)</a:t>
            </a:r>
          </a:p>
          <a:p>
            <a:pPr lvl="1"/>
            <a:r>
              <a:t>• AHB/AXI: higher performance, burst transfers, pipelined and/or out-of-order (use for memories, DMA, high-speed peripherals)</a:t>
            </a:r>
          </a:p>
          <a:p>
            <a:pPr lvl="1"/>
            <a:r>
              <a:t>• Use APB behind an interconnect fabric (bridged from AHB/AXI) for control registers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47252"/>
          </a:xfrm>
        </p:spPr>
        <p:txBody>
          <a:bodyPr/>
          <a:lstStyle/>
          <a:p>
            <a:r>
              <a:rPr sz="2800" dirty="0"/>
              <a:t>Advantages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62076"/>
            <a:ext cx="6347714" cy="1909965"/>
          </a:xfrm>
        </p:spPr>
        <p:txBody>
          <a:bodyPr/>
          <a:lstStyle/>
          <a:p>
            <a:r>
              <a:rPr dirty="0"/>
              <a:t>Ideal for low-bandwidth peripherals: UART, I2C controllers, GPIO, timers, watchdogs.</a:t>
            </a:r>
            <a:endParaRPr lang="en-IN" dirty="0"/>
          </a:p>
          <a:p>
            <a:r>
              <a:rPr dirty="0"/>
              <a:t> Low logic overhead, easy to implement, low-power.</a:t>
            </a:r>
            <a:endParaRPr lang="en-IN" dirty="0"/>
          </a:p>
          <a:p>
            <a:r>
              <a:rPr dirty="0"/>
              <a:t>Slave-controlled wait states using PREADY for simple flow control.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06A9F5-52D9-EA3C-48FB-3CE2D0B382B9}"/>
              </a:ext>
            </a:extLst>
          </p:cNvPr>
          <p:cNvSpPr txBox="1">
            <a:spLocks/>
          </p:cNvSpPr>
          <p:nvPr/>
        </p:nvSpPr>
        <p:spPr>
          <a:xfrm>
            <a:off x="609599" y="3667433"/>
            <a:ext cx="6347713" cy="7767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Disadvantages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917DF2-CAD1-67E4-F582-469138D43098}"/>
              </a:ext>
            </a:extLst>
          </p:cNvPr>
          <p:cNvSpPr txBox="1">
            <a:spLocks/>
          </p:cNvSpPr>
          <p:nvPr/>
        </p:nvSpPr>
        <p:spPr>
          <a:xfrm>
            <a:off x="609599" y="4291780"/>
            <a:ext cx="6347714" cy="2008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Low Bandwidth: </a:t>
            </a:r>
            <a:r>
              <a:rPr lang="en-US"/>
              <a:t>Not for high-speed data transfers.</a:t>
            </a:r>
          </a:p>
          <a:p>
            <a:r>
              <a:rPr lang="en-US" b="1"/>
              <a:t>No Burst Support: </a:t>
            </a:r>
            <a:r>
              <a:rPr lang="en-US"/>
              <a:t>Only single-word reads/writes.</a:t>
            </a:r>
          </a:p>
          <a:p>
            <a:r>
              <a:rPr lang="en-US" b="1"/>
              <a:t>High Latency: </a:t>
            </a:r>
            <a:r>
              <a:rPr lang="en-US"/>
              <a:t>Requires at least 2 clock cycles per transfer.</a:t>
            </a:r>
          </a:p>
          <a:p>
            <a:r>
              <a:rPr lang="en-US" b="1"/>
              <a:t>Single Master Only: </a:t>
            </a:r>
            <a:r>
              <a:rPr lang="en-US"/>
              <a:t>No multi-master support.</a:t>
            </a: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references used while preparing this presentation:</a:t>
            </a:r>
          </a:p>
          <a:p>
            <a:pPr lvl="1"/>
            <a:r>
              <a:rPr dirty="0"/>
              <a:t>ARM AMBA APB Protocol Specification (ARM Developer)</a:t>
            </a:r>
          </a:p>
          <a:p>
            <a:pPr lvl="1"/>
            <a:r>
              <a:rPr lang="en-IN" dirty="0"/>
              <a:t>Udemy: APB Protocol project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907</Words>
  <Application>Microsoft Office PowerPoint</Application>
  <PresentationFormat>On-screen Show (4:3)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AMBA APB Protocol (Advanced Peripheral Bus)</vt:lpstr>
      <vt:lpstr>Agenda</vt:lpstr>
      <vt:lpstr>What is APB?</vt:lpstr>
      <vt:lpstr>Signal Description</vt:lpstr>
      <vt:lpstr>PowerPoint Presentation</vt:lpstr>
      <vt:lpstr>Master-Slave Configuration</vt:lpstr>
      <vt:lpstr>Write Transfers</vt:lpstr>
      <vt:lpstr>Write Transfers</vt:lpstr>
      <vt:lpstr>Read Transfers</vt:lpstr>
      <vt:lpstr>Read Transfers</vt:lpstr>
      <vt:lpstr>Write followed by read</vt:lpstr>
      <vt:lpstr>Error response</vt:lpstr>
      <vt:lpstr>Failing Write Transfer</vt:lpstr>
      <vt:lpstr>Failing Read Transfer</vt:lpstr>
      <vt:lpstr>Operating States &amp; Transfer Sequence</vt:lpstr>
      <vt:lpstr>APB Verification Plan</vt:lpstr>
      <vt:lpstr>APB Versions &amp; Notable Features</vt:lpstr>
      <vt:lpstr>APB vs AHB / AXI (When to use)</vt:lpstr>
      <vt:lpstr>Advantages 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Aadhithya S B</cp:lastModifiedBy>
  <cp:revision>4</cp:revision>
  <dcterms:created xsi:type="dcterms:W3CDTF">2013-01-27T09:14:16Z</dcterms:created>
  <dcterms:modified xsi:type="dcterms:W3CDTF">2025-08-29T10:50:46Z</dcterms:modified>
  <cp:category/>
</cp:coreProperties>
</file>